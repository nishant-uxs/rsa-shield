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498079" y="1097280"/>
            <a:ext cx="4023360" cy="438912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2D3EE"/>
                </a:solidFill>
                <a:latin typeface="Calibri"/>
              </a:defRPr>
            </a:pPr>
            <a:r>
              <a:t>SECURITY AUDIT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22D3EE"/>
                </a:solidFill>
                <a:latin typeface="Calibri"/>
              </a:defRPr>
            </a:pPr>
            <a:r>
              <a:t>RSA-SHIELD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4A3B8"/>
                </a:solidFill>
                <a:latin typeface="Calibri"/>
              </a:defRPr>
            </a:pPr>
            <a:r>
              <a:t>RSA Key Security Auditor for</a:t>
            </a:r>
            <a:br/>
            <a:r>
              <a:t>Legacy Critical Infrastructure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Team: [TEAM NAME]</a:t>
            </a:r>
            <a:br/>
            <a:r>
              <a:t>Members: [MEMBER 1] · [MEMBER 2] · [MEMBER 3] · [MEMBER 4]</a:t>
            </a:r>
            <a:br/>
            <a:r>
              <a:t>Mentor: [MENTOR NAME]</a:t>
            </a:r>
            <a:br/>
            <a:r>
              <a:t>Institution: [COLLEGE / UNIVERSITY]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5603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D3EE"/>
                </a:solidFill>
                <a:latin typeface="Calibri"/>
              </a:defRPr>
            </a:pPr>
            <a:r>
              <a:t>n = p × 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34747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Calibri"/>
              </a:defRPr>
            </a:pPr>
            <a:r>
              <a:t>Mathematical RSA</a:t>
            </a:r>
            <a:br/>
            <a:r>
              <a:t>Key Auditing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RSA-SHIELD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7"/>
                </a:solidFill>
                <a:latin typeface="Calibri"/>
              </a:defRPr>
            </a:pPr>
            <a:r>
              <a:t>RSA Keys Can Fail Before Encryption Does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01168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"/>
              </a:defRPr>
            </a:pPr>
            <a:r>
              <a:t>1. Legacy Assets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SCADA / substations retain old crypto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201168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2240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"/>
              </a:defRPr>
            </a:pPr>
            <a:r>
              <a:t>2. RSA Keys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283464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Security depends on key material quality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201168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240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"/>
              </a:defRPr>
            </a:pPr>
            <a:r>
              <a:t>3. Weak Modulus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3464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Poor entropy → factorable 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0" y="2011680"/>
            <a:ext cx="2697480" cy="237744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224028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Calibri"/>
              </a:defRPr>
            </a:pPr>
            <a:r>
              <a:t>4. Exposure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2834640"/>
            <a:ext cx="24231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Factorization-based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75488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Manual auditing of large key inventories cannot prove mathematical strength.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RSA-SHIELD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Calibri"/>
              </a:defRPr>
            </a:pPr>
            <a:r>
              <a:t>EXISTING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7"/>
                </a:solidFill>
                <a:latin typeface="Calibri"/>
              </a:defRPr>
            </a:pPr>
            <a:r>
              <a:t>From Key Inventory to Mathematical Assurance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45920"/>
            <a:ext cx="5212080" cy="402336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Traditional Inventory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Key inventory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Basic length check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Basic config check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❌ No mathematical strength proof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212080" cy="402336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2940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Calibri"/>
              </a:defRPr>
            </a:pPr>
            <a:r>
              <a:t>RSA-SHIELD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377440"/>
            <a:ext cx="45720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Structural analysis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Mathematical analysis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ECM factorization attempt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Evidence-based assessment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RSA-SHIELD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7"/>
                </a:solidFill>
                <a:latin typeface="Calibri"/>
              </a:defRPr>
            </a:pPr>
            <a:r>
              <a:t>RSA-SHIELD: Mathematical RSA Security Auditor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Calibri"/>
              </a:defRPr>
            </a:pPr>
            <a:r>
              <a:t>Software platform that turns established crypto math into a practical audit tool.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2377440"/>
            <a:ext cx="1325880" cy="13716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78892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D3EE"/>
                </a:solidFill>
                <a:latin typeface="Calibri"/>
              </a:defRPr>
            </a:pPr>
            <a:r>
              <a:t>Key 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2377440"/>
            <a:ext cx="1325880" cy="13716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78892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D3EE"/>
                </a:solidFill>
                <a:latin typeface="Calibri"/>
              </a:defRPr>
            </a:pPr>
            <a:r>
              <a:t>Parse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377440"/>
            <a:ext cx="1325880" cy="13716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278892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D3EE"/>
                </a:solidFill>
                <a:latin typeface="Calibri"/>
              </a:defRPr>
            </a:pPr>
            <a:r>
              <a:t>Extract n,e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2377440"/>
            <a:ext cx="1325880" cy="13716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78892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D3EE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2377440"/>
            <a:ext cx="1325880" cy="13716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78892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D3EE"/>
                </a:solidFill>
                <a:latin typeface="Calibri"/>
              </a:defRPr>
            </a:pPr>
            <a:r>
              <a:t>ECM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52360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2377440"/>
            <a:ext cx="1325880" cy="13716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0" y="278892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D3EE"/>
                </a:solidFill>
                <a:latin typeface="Calibri"/>
              </a:defRPr>
            </a:pPr>
            <a:r>
              <a:t>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44000" y="2377440"/>
            <a:ext cx="1325880" cy="13716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0" y="278892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D3EE"/>
                </a:solidFill>
                <a:latin typeface="Calibri"/>
              </a:defRPr>
            </a:pPr>
            <a:r>
              <a:t>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78440" y="28346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607040" y="2377440"/>
            <a:ext cx="1325880" cy="13716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607040" y="2788920"/>
            <a:ext cx="1325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2D3EE"/>
                </a:solidFill>
                <a:latin typeface="Calibri"/>
              </a:defRPr>
            </a:pPr>
            <a:r>
              <a:t>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3891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8BFA"/>
                </a:solidFill>
                <a:latin typeface="Calibri"/>
              </a:defRPr>
            </a:pPr>
            <a:r>
              <a:t>We did NOT invent RSA or ECM. We operationalize them for authorized key auditing.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RSA-SHIELD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Calibri"/>
              </a:defRPr>
            </a:pPr>
            <a:r>
              <a:t>AUDIT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7"/>
                </a:solidFill>
                <a:latin typeface="Calibri"/>
              </a:defRPr>
            </a:pPr>
            <a:r>
              <a:t>Inside the Audit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5029200" cy="109728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EF7"/>
                </a:solidFill>
                <a:latin typeface="Calibri"/>
              </a:defRPr>
            </a:pPr>
            <a:r>
              <a:t>n = p × q</a:t>
            </a:r>
            <a:br/>
            <a:r>
              <a:t>Recovering p or q compromises the modulus.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0175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1. Accept public key / modulus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2. Validate format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3. Extract n and 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4. Preliminary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3017520"/>
            <a:ext cx="5303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5. Run configurable ECM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6. Detect factors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7. Estimate exposure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8. Generate audit result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RSA-SHIELD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Calibri"/>
              </a:defRPr>
            </a:pPr>
            <a:r>
              <a:t>CRYPTOGRAPHIC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7"/>
                </a:solidFill>
                <a:latin typeface="Calibri"/>
              </a:defRPr>
            </a:pPr>
            <a:r>
              <a:t>Why Elliptic Curve Method (ECM)?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ECM = established factorization algorithm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Good at finding relatively small factors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RSA: n = p × q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A non-trivial factor = concrete weakness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554480"/>
            <a:ext cx="5212080" cy="41148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82880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8BFA"/>
                </a:solidFill>
                <a:latin typeface="Calibri"/>
              </a:defRPr>
            </a:pPr>
            <a:r>
              <a:t>ECM Audit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237744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RSA modulus n</a:t>
            </a:r>
            <a:br/>
            <a:r>
              <a:t>↓</a:t>
            </a:r>
            <a:br/>
            <a:r>
              <a:t>ECM search</a:t>
            </a:r>
            <a:br/>
            <a:r>
              <a:t>↓</a:t>
            </a:r>
            <a:br/>
            <a:r>
              <a:t>Elliptic curve ops</a:t>
            </a:r>
            <a:br/>
            <a:r>
              <a:t>↓</a:t>
            </a:r>
            <a:br/>
            <a:r>
              <a:t>Factor found?  → YES: evidence</a:t>
            </a:r>
            <a:br/>
            <a:r>
              <a:t>               → NO: inconclusive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50292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  <a:latin typeface="Calibri"/>
              </a:defRPr>
            </a:pPr>
            <a:r>
              <a:t>ECM does NOT instantly factor modern strong RSA keys.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RSA-SHIELD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Calibri"/>
              </a:defRPr>
            </a:pPr>
            <a:r>
              <a:t>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7"/>
                </a:solidFill>
                <a:latin typeface="Calibri"/>
              </a:defRPr>
            </a:pPr>
            <a:r>
              <a:t>RSA-SHIELD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508760"/>
            <a:ext cx="9418320" cy="6858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67335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67335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React + TypeScript + Tailwind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286000"/>
            <a:ext cx="9418320" cy="6858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245059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"/>
              </a:defRPr>
            </a:pPr>
            <a:r>
              <a:t>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45059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FastAPI + Python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063239"/>
            <a:ext cx="9418320" cy="6858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45920" y="3227831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"/>
              </a:defRPr>
            </a:pPr>
            <a:r>
              <a:t>Engines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3227831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RSA Parser · Key Analyzer · ECM · Risk · Reports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3840479"/>
            <a:ext cx="9418320" cy="6858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4005071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4005071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PostgreSQL / SQLite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371600" y="4617720"/>
            <a:ext cx="9418320" cy="6858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45920" y="478231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78231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JSON + PDF audit reports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RSA-SHIELD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Calibri"/>
              </a:defRPr>
            </a:pPr>
            <a:r>
              <a:t>ANALYSIS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7"/>
                </a:solidFill>
                <a:latin typeface="Calibri"/>
              </a:defRPr>
            </a:pPr>
            <a:r>
              <a:t>More Than a Factorization Tool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11155680" cy="54864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EF7"/>
                </a:solidFill>
                <a:latin typeface="Calibri"/>
              </a:defRPr>
            </a:pPr>
            <a:r>
              <a:t>L1  Format &amp; Parameter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03120"/>
            <a:ext cx="11155680" cy="54864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1284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EF7"/>
                </a:solidFill>
                <a:latin typeface="Calibri"/>
              </a:defRPr>
            </a:pPr>
            <a:r>
              <a:t>L2  RSA Parameter Analysis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743200"/>
            <a:ext cx="11155680" cy="54864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5292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EF7"/>
                </a:solidFill>
                <a:latin typeface="Calibri"/>
              </a:defRPr>
            </a:pPr>
            <a:r>
              <a:t>L3  Modulus Characteristics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383279"/>
            <a:ext cx="11155680" cy="54864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493007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EF7"/>
                </a:solidFill>
                <a:latin typeface="Calibri"/>
              </a:defRPr>
            </a:pPr>
            <a:r>
              <a:t>L4  ECM Factorization Attempt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4023360"/>
            <a:ext cx="11155680" cy="54864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3308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EF7"/>
                </a:solidFill>
                <a:latin typeface="Calibri"/>
              </a:defRPr>
            </a:pPr>
            <a:r>
              <a:t>L5  Evidence-Based Risk Classification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663440"/>
            <a:ext cx="11155680" cy="54864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773168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8EEF7"/>
                </a:solidFill>
                <a:latin typeface="Calibri"/>
              </a:defRPr>
            </a:pPr>
            <a:r>
              <a:t>L6  Audit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78BFA"/>
                </a:solidFill>
                <a:latin typeface="Calibri"/>
              </a:defRPr>
            </a:pPr>
            <a:r>
              <a:t>Separates mathematical evidence from heuristic warnings.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RSA-SHIELD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Calibri"/>
              </a:defRPr>
            </a:pPr>
            <a:r>
              <a:t>AUDIT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7"/>
                </a:solidFill>
                <a:latin typeface="Calibri"/>
              </a:defRPr>
            </a:pPr>
            <a:r>
              <a:t>From Suspicious Key to Security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alibri"/>
              </a:defRPr>
            </a:pPr>
            <a:r>
              <a:t>Legacy Device → Public Key → RSA-SHIELD → Suspicious Modulus → ECM → Factor Found → Alert → Key Rotation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11155680" cy="36576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7171"/>
                </a:solidFill>
                <a:latin typeface="Calibri"/>
              </a:defRPr>
            </a:pPr>
            <a:r>
              <a:t>Mock Audit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Key 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1363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EF7"/>
                </a:solidFill>
                <a:latin typeface="Calibri"/>
              </a:defRPr>
            </a:pPr>
            <a:r>
              <a:t>LEGACY-SCADA-0042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8803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Modulus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313639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EF7"/>
                </a:solidFill>
                <a:latin typeface="Calibri"/>
              </a:defRPr>
            </a:pPr>
            <a:r>
              <a:t>1024-bit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Public exponent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13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EF7"/>
                </a:solidFill>
                <a:latin typeface="Calibri"/>
              </a:defRPr>
            </a:pPr>
            <a:r>
              <a:t>e = 65537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657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ECM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9136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EF7"/>
                </a:solidFill>
                <a:latin typeface="Calibri"/>
              </a:defRPr>
            </a:pPr>
            <a:r>
              <a:t>Factor discovered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34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Severity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690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87171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434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Action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69087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EEF7"/>
                </a:solidFill>
                <a:latin typeface="Calibri"/>
              </a:defRPr>
            </a:pPr>
            <a:r>
              <a:t>Recommend key rotation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RSA-SHIELD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Calibri"/>
              </a:defRPr>
            </a:pPr>
            <a: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7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11155680" cy="59436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00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"/>
              </a:defRPr>
            </a:pPr>
            <a:r>
              <a:t>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600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React · TypeScript · Tailwind · Vite · Recharts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148840"/>
            <a:ext cx="11155680" cy="59436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"/>
              </a:defRPr>
            </a:pPr>
            <a:r>
              <a:t>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2860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Python · FastAPI · Pydantic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34640"/>
            <a:ext cx="11155680" cy="59436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9718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"/>
              </a:defRPr>
            </a:pPr>
            <a:r>
              <a:t>Security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9718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RSA math · Modular arithmetic · Lenstra ECM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20440"/>
            <a:ext cx="11155680" cy="59436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6576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"/>
              </a:defRPr>
            </a:pPr>
            <a: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6576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PostgreSQL / SQLite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06240"/>
            <a:ext cx="11155680" cy="59436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"/>
              </a:defRPr>
            </a:pPr>
            <a:r>
              <a:t>DevOps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3434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Docker · Git · GitHub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892040"/>
            <a:ext cx="11155680" cy="59436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02920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D3EE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0292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Calibri"/>
              </a:defRPr>
            </a:pPr>
            <a:r>
              <a:t>Pytest · Unit + 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RSA-SHIELD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Calibri"/>
              </a:defRPr>
            </a:pPr>
            <a:r>
              <a:t>PRODUCT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7"/>
                </a:solidFill>
                <a:latin typeface="Calibri"/>
              </a:defRPr>
            </a:pPr>
            <a:r>
              <a:t>Key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7"/>
                </a:solidFill>
                <a:latin typeface="Calibri"/>
              </a:defRPr>
            </a:pPr>
            <a:r>
              <a:t>RSA public-key upload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82880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7"/>
                </a:solidFill>
                <a:latin typeface="Calibri"/>
              </a:defRPr>
            </a:pPr>
            <a:r>
              <a:t>Batch key auditing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155448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82880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7"/>
                </a:solidFill>
                <a:latin typeface="Calibri"/>
              </a:defRPr>
            </a:pPr>
            <a:r>
              <a:t>Modulus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06039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80359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7"/>
                </a:solidFill>
                <a:latin typeface="Calibri"/>
              </a:defRPr>
            </a:pPr>
            <a:r>
              <a:t>ECM factorization attempts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606039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880359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7"/>
                </a:solidFill>
                <a:latin typeface="Calibri"/>
              </a:defRPr>
            </a:pPr>
            <a:r>
              <a:t>Audit history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2606039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880359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7"/>
                </a:solidFill>
                <a:latin typeface="Calibri"/>
              </a:defRPr>
            </a:pPr>
            <a:r>
              <a:t>Risk classification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5760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93192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7"/>
                </a:solidFill>
                <a:latin typeface="Calibri"/>
              </a:defRPr>
            </a:pPr>
            <a:r>
              <a:t>Evidence tracking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65760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93192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7"/>
                </a:solidFill>
                <a:latin typeface="Calibri"/>
              </a:defRPr>
            </a:pPr>
            <a:r>
              <a:t>Exportable reports (JSON/PDF)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657600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93192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7"/>
                </a:solidFill>
                <a:latin typeface="Calibri"/>
              </a:defRPr>
            </a:pPr>
            <a:r>
              <a:t>API access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709159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4983479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7"/>
                </a:solidFill>
                <a:latin typeface="Calibri"/>
              </a:defRPr>
            </a:pPr>
            <a:r>
              <a:t>Audit simulation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43400" y="4709159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26280" y="4983479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7"/>
                </a:solidFill>
                <a:latin typeface="Calibri"/>
              </a:defRPr>
            </a:pPr>
            <a:r>
              <a:t>Crypto visualizations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80" y="4709159"/>
            <a:ext cx="3611880" cy="9144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4983479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EF7"/>
                </a:solidFill>
                <a:latin typeface="Calibri"/>
              </a:defRPr>
            </a:pPr>
            <a:r>
              <a:t>Clear evidence tiers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RSA-SHIELD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7"/>
                </a:solidFill>
                <a:latin typeface="Calibri"/>
              </a:defRPr>
            </a:pPr>
            <a:r>
              <a:t>How We Measure the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55448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Keys successfully parsed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Audit processing time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ECM execution time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Factor discovery on weak test keys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False-positive rate (heuristics)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Batch throughput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Resource utilization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  <a:latin typeface="Calibri"/>
              </a:defRPr>
            </a:pPr>
            <a:r>
              <a:t>•  Detection rate (lab weak keys only)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2011680"/>
            <a:ext cx="4846320" cy="256032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246888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59E0B"/>
                </a:solidFill>
                <a:latin typeface="Calibri"/>
              </a:defRPr>
            </a:pPr>
            <a:r>
              <a:t>Prototype Benchmark</a:t>
            </a:r>
            <a:br/>
            <a:r>
              <a:t>— To Be Measured —</a:t>
            </a:r>
            <a:br/>
            <a:br/>
            <a:r>
              <a:t>No fabricated numbers.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RSA-SHIELD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Calibri"/>
              </a:defRPr>
            </a:pPr>
            <a:r>
              <a:t>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7"/>
                </a:solidFill>
                <a:latin typeface="Calibri"/>
              </a:defRPr>
            </a:pPr>
            <a:r>
              <a:t>What RSA-SHIELD Does — and Does Not — Claim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5394960" cy="41148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D3EE"/>
                </a:solidFill>
                <a:latin typeface="Calibri"/>
              </a:defRPr>
            </a:pPr>
            <a:r>
              <a:t>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8600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Audit authorized RSA keys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Structural + math analysis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ECM as evidence probe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Evidence-tiered labels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Human-readable reports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54480"/>
            <a:ext cx="5394960" cy="41148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7830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87171"/>
                </a:solidFill>
                <a:latin typeface="Calibri"/>
              </a:defRPr>
            </a:pPr>
            <a:r>
              <a:t>Does Not Claim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28600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Not a magic break of modern RSA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No factor ≠ proof of security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Not a formal security proof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Needs specialist validation</a:t>
            </a:r>
          </a:p>
          <a:p>
            <a:pPr>
              <a:spcAft>
                <a:spcPts val="800"/>
              </a:spcAft>
              <a:defRPr sz="1400">
                <a:solidFill>
                  <a:srgbClr val="94A3B8"/>
                </a:solidFill>
                <a:latin typeface="Calibri"/>
              </a:defRPr>
            </a:pPr>
            <a:r>
              <a:t>•  Authorized keys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RSA-SHIELD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2D3EE"/>
                </a:solidFill>
                <a:latin typeface="Calibri"/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E8EEF7"/>
                </a:solidFill>
                <a:latin typeface="Calibri"/>
              </a:defRPr>
            </a:pPr>
            <a:r>
              <a:t>From RSA Auditor to Crypto Asset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54480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7"/>
                </a:solidFill>
                <a:latin typeface="Calibri"/>
              </a:defRPr>
            </a:pPr>
            <a:r>
              <a:t>Large-scale key inventory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554480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178308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7"/>
                </a:solidFill>
                <a:latin typeface="Calibri"/>
              </a:defRPr>
            </a:pPr>
            <a:r>
              <a:t>Certificate scanning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83880" y="1554480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78308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7"/>
                </a:solidFill>
                <a:latin typeface="Calibri"/>
              </a:defRPr>
            </a:pPr>
            <a:r>
              <a:t>Weak-key pattern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468880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7"/>
                </a:solidFill>
                <a:latin typeface="Calibri"/>
              </a:defRPr>
            </a:pPr>
            <a:r>
              <a:t>Historical monitoring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2468880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269748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7"/>
                </a:solidFill>
                <a:latin typeface="Calibri"/>
              </a:defRPr>
            </a:pPr>
            <a:r>
              <a:t>PQC migration readiness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80" y="2468880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269748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7"/>
                </a:solidFill>
                <a:latin typeface="Calibri"/>
              </a:defRPr>
            </a:pPr>
            <a:r>
              <a:t>Enterprise dashboards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383280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1188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7"/>
                </a:solidFill>
                <a:latin typeface="Calibri"/>
              </a:defRPr>
            </a:pPr>
            <a:r>
              <a:t>CI/CD crypto scanning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383280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61188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7"/>
                </a:solidFill>
                <a:latin typeface="Calibri"/>
              </a:defRPr>
            </a:pPr>
            <a:r>
              <a:t>Compliance reports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383280"/>
            <a:ext cx="3611880" cy="77724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61188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EEF7"/>
                </a:solidFill>
                <a:latin typeface="Calibri"/>
              </a:defRPr>
            </a:pPr>
            <a:r>
              <a:t>Hardware key metadata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572000"/>
            <a:ext cx="11155680" cy="1371600"/>
          </a:xfrm>
          <a:prstGeom prst="roundRect">
            <a:avLst>
              <a:gd name="adj" fmla="val 8000"/>
            </a:avLst>
          </a:prstGeom>
          <a:solidFill>
            <a:srgbClr val="11151D"/>
          </a:solidFill>
          <a:ln w="12700">
            <a:solidFill>
              <a:srgbClr val="22D3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75488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D3EE"/>
                </a:solidFill>
                <a:latin typeface="Calibri"/>
              </a:defRPr>
            </a:pPr>
            <a:r>
              <a:t>Know Your Keys. Prove Their Strength.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257800"/>
            <a:ext cx="10698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Calibri"/>
              </a:defRPr>
            </a:pPr>
            <a:r>
              <a:t>[TEAM NAME] · [MEMBERS] · [COLLEGE] · GitHub: [REPO] · Demo: [URL]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Calibri"/>
              </a:defRPr>
            </a:pPr>
            <a:r>
              <a:t>RSA-SHIELD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